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(~45s). Open University CS; passion for practical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Opening-season recruitment scenario (~60s). Evidence-based;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overview (~50s). Four tools; no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End-to-end flow through EC2, Docker, Flask, Bedrock Agent, KB, Lambdas, DynamoDB, S3, Flask proxy (~60s).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story (~90s). Live site or screenshots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Wins, challenges, roadmap (~60s). 481 passed, 0 failed, 3/3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Avidan Mendelman</a:t>
            </a:r>
          </a:p>
          <a:p>
            <a:pPr>
              <a:spcAft>
                <a:spcPts val="800"/>
              </a:spcAft>
              <a:defRPr sz="2200" b="0">
                <a:solidFill>
                  <a:srgbClr val="C8D6E5"/>
                </a:solidFill>
              </a:defRPr>
            </a:pPr>
            <a:r>
              <a:t>The Open University of Israel</a:t>
            </a:r>
          </a:p>
          <a:p>
            <a:pPr>
              <a:spcAft>
                <a:spcPts val="800"/>
              </a:spcAft>
              <a:defRPr sz="2200" b="0">
                <a:solidFill>
                  <a:srgbClr val="C8D6E5"/>
                </a:solidFill>
              </a:defRPr>
            </a:pPr>
            <a:r>
              <a:t>B.Sc. in Computer Science</a:t>
            </a:r>
          </a:p>
          <a:p>
            <a:pPr>
              <a:spcAft>
                <a:spcPts val="800"/>
              </a:spcAft>
              <a:defRPr sz="1000" b="0">
                <a:solidFill>
                  <a:srgbClr val="C8D6E5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D4FF"/>
                </a:solidFill>
              </a:defRPr>
            </a:pPr>
            <a:r>
              <a:t>I am passionate about software development and building useful AI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ScoutMatch AI — Evidence-Based Football Recruitment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39776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8D6E5"/>
                </a:solidFill>
              </a:defRPr>
            </a:pPr>
            <a:r>
              <a:t>Club finished fourth last season — strengthen before the transfer window closes.</a:t>
            </a:r>
          </a:p>
          <a:p>
            <a:pPr>
              <a:spcAft>
                <a:spcPts val="800"/>
              </a:spcAft>
              <a:defRPr sz="1500">
                <a:solidFill>
                  <a:srgbClr val="C8D6E5"/>
                </a:solidFill>
              </a:defRPr>
            </a:pPr>
            <a:r>
              <a:t>User: football scout / recruitment analyst.</a:t>
            </a:r>
          </a:p>
          <a:p>
            <a:pPr>
              <a:spcAft>
                <a:spcPts val="800"/>
              </a:spcAft>
              <a:defRPr sz="1500">
                <a:solidFill>
                  <a:srgbClr val="C8D6E5"/>
                </a:solidFill>
              </a:defRPr>
            </a:pPr>
            <a:r>
              <a:t>Analyzes club documents, squad data, candidate reports, and operational decisions.</a:t>
            </a:r>
          </a:p>
          <a:p>
            <a:pPr>
              <a:spcAft>
                <a:spcPts val="800"/>
              </a:spcAft>
              <a:defRPr sz="1500">
                <a:solidFill>
                  <a:srgbClr val="C8D6E5"/>
                </a:solidFill>
              </a:defRPr>
            </a:pPr>
            <a:r>
              <a:t>Identify weaknesses, transfer-out reviews, scouting missions, critical recommendations, budget on Confirm, visual lineup.</a:t>
            </a:r>
          </a:p>
          <a:p>
            <a:pPr>
              <a:spcAft>
                <a:spcPts val="800"/>
              </a:spcAft>
              <a:defRPr sz="1500">
                <a:solidFill>
                  <a:srgbClr val="C8D6E5"/>
                </a:solidFill>
              </a:defRPr>
            </a:pPr>
            <a:r>
              <a:t>Live demo: http://3.239.47.249/</a:t>
            </a:r>
          </a:p>
        </p:txBody>
      </p:sp>
      <p:pic>
        <p:nvPicPr>
          <p:cNvPr id="5" name="Picture 4" descr="ui_polish_hero_clean_manual_final_1366x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34440"/>
            <a:ext cx="4069080" cy="2287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7720" y="356790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Polished homepage — six quick-start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1417320" cy="384048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39C12"/>
                </a:solidFill>
              </a:defRPr>
            </a:pPr>
            <a: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30552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Flask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78024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HTML / CSS /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1325880"/>
            <a:ext cx="1417320" cy="384048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39C12"/>
                </a:solidFill>
              </a:defRPr>
            </a:pPr>
            <a:r>
              <a:t>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1783080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2130552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Amazon EC2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2478024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Git /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5" y="1325880"/>
            <a:ext cx="1417320" cy="384048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39C12"/>
                </a:solidFill>
              </a:defRPr>
            </a:pPr>
            <a:r>
              <a:t>AWS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7015" y="1783080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Amazon Bedrock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5" y="2130552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Amazon Bedrock Knowledge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7015" y="2478024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7015" y="2825496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Guardrail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7015" y="3172968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boto3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5" y="3520439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IAM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3" y="1325880"/>
            <a:ext cx="1417320" cy="384048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39C12"/>
                </a:solidFill>
              </a:defRPr>
            </a:pPr>
            <a:r>
              <a:t>AWS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3" y="1783080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Amazon S3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3" y="2130552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AWS Lambda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9783" y="2478024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Amazon DynamoDB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2551" y="1325880"/>
            <a:ext cx="1417320" cy="384048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39C12"/>
                </a:solidFill>
              </a:defRPr>
            </a:pPr>
            <a: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2551" y="1783080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Exactly 4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551" y="2130552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Exactly 4 Action Groups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2551" y="2478024"/>
            <a:ext cx="1417320" cy="310896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D6E5"/>
                </a:solidFill>
              </a:defRPr>
            </a:pPr>
            <a:r>
              <a:t>Exactly 4 Lambda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32120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D4FF"/>
                </a:solidFill>
              </a:defRPr>
            </a:pPr>
            <a:r>
              <a:t>The project uses controlled Tools through Amazon Bedrock Agent Action Groups and AWS Lambda functions. It does not use a standalone MCP server.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234440" cy="59436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828800"/>
            <a:ext cx="1234440" cy="59436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EC2 :80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1234440" cy="59436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1234440" cy="59436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Flask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1234440" cy="59436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boto3 + IAM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926080"/>
            <a:ext cx="2011680" cy="68580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Bedrock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11480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11480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Knowledge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11480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4 Action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21208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4 Lambdas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21208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DynamoDB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5212080"/>
            <a:ext cx="1554480" cy="54864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S3 docs + SVG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989320"/>
            <a:ext cx="2011680" cy="502920"/>
          </a:xfrm>
          <a:prstGeom prst="roundRect">
            <a:avLst/>
          </a:prstGeom>
          <a:solidFill>
            <a:srgbClr val="122B4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Flask SVG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3212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CC71"/>
                </a:solidFill>
              </a:defRPr>
            </a:pPr>
            <a:r>
              <a:t>Guardrail, Confirm / Deny, and human approval boundaries before writes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8D6E5"/>
                </a:solidFill>
              </a:defRPr>
            </a:pPr>
            <a:r>
              <a:t>1 Ask: squad priority before transfer window closes.</a:t>
            </a:r>
          </a:p>
          <a:p>
            <a:pPr>
              <a:spcAft>
                <a:spcPts val="800"/>
              </a:spcAft>
              <a:defRPr sz="1400">
                <a:solidFill>
                  <a:srgbClr val="C8D6E5"/>
                </a:solidFill>
              </a:defRPr>
            </a:pPr>
            <a:r>
              <a:t>2 Show: RAG-grounded answer with club-document evidence.</a:t>
            </a:r>
          </a:p>
          <a:p>
            <a:pPr>
              <a:spcAft>
                <a:spcPts val="800"/>
              </a:spcAft>
              <a:defRPr sz="1400">
                <a:solidFill>
                  <a:srgbClr val="C8D6E5"/>
                </a:solidFill>
              </a:defRPr>
            </a:pPr>
            <a:r>
              <a:t>3 Ask: submit Ron Ben Ari recommendation, then Confirm / Deny card.</a:t>
            </a:r>
          </a:p>
          <a:p>
            <a:pPr>
              <a:spcAft>
                <a:spcPts val="800"/>
              </a:spcAft>
              <a:defRPr sz="1400">
                <a:solidFill>
                  <a:srgbClr val="C8D6E5"/>
                </a:solidFill>
              </a:defRPr>
            </a:pPr>
            <a:r>
              <a:t>4 Confirm: 43,000 EUR reserved, 57,000 EUR remaining, Pending management approval.</a:t>
            </a:r>
          </a:p>
          <a:p>
            <a:pPr>
              <a:spcAft>
                <a:spcPts val="800"/>
              </a:spcAft>
              <a:defRPr sz="1400">
                <a:solidFill>
                  <a:srgbClr val="C8D6E5"/>
                </a:solidFill>
              </a:defRPr>
            </a:pPr>
            <a:r>
              <a:t>5 Show: updated proposed lineup and squad-risk board.</a:t>
            </a:r>
          </a:p>
        </p:txBody>
      </p:sp>
      <p:pic>
        <p:nvPicPr>
          <p:cNvPr id="5" name="Picture 4" descr="03_grounded_squa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67712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623559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Grounded analysis</a:t>
            </a:r>
          </a:p>
        </p:txBody>
      </p:sp>
      <p:pic>
        <p:nvPicPr>
          <p:cNvPr id="7" name="Picture 6" descr="09_critical_decision_confirm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4160520"/>
            <a:ext cx="2267712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54680" y="5623559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Confirm / Deny</a:t>
            </a:r>
          </a:p>
        </p:txBody>
      </p:sp>
      <p:pic>
        <p:nvPicPr>
          <p:cNvPr id="9" name="Picture 8" descr="12_visual_squad_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160520"/>
            <a:ext cx="2267712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623559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Lineup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Challenges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606040" cy="411480"/>
          </a:xfrm>
          <a:prstGeom prst="roundRect">
            <a:avLst/>
          </a:prstGeom>
          <a:solidFill>
            <a:srgbClr val="122B4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ECC71"/>
                </a:solidFill>
              </a:defRPr>
            </a:pPr>
            <a:r>
              <a:t>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8308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Public Docker on EC2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RAG answers with sources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Bedrock Agent with 4 controlled tools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Confirm / Deny before writes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DynamoDB state updates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Private S3 lineup SVG via Flask Proxy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Guardrail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234440"/>
            <a:ext cx="2606040" cy="411480"/>
          </a:xfrm>
          <a:prstGeom prst="roundRect">
            <a:avLst/>
          </a:prstGeom>
          <a:solidFill>
            <a:srgbClr val="122B45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39C12"/>
                </a:solidFill>
              </a:defRPr>
            </a:pPr>
            <a:r>
              <a:t>Technical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Bedrock returnControl to the website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Idempotency against duplicate writes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Private lineup assets in S3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Human approval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2606040" cy="411480"/>
          </a:xfrm>
          <a:prstGeom prst="roundRect">
            <a:avLst/>
          </a:prstGeom>
          <a:solidFill>
            <a:srgbClr val="122B45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0D4FF"/>
                </a:solidFill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8308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Real SES email delivery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Full Google Calendar integration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Management approval dashboard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Better player-ranking analytics</a:t>
            </a:r>
          </a:p>
          <a:p>
            <a:pPr>
              <a:spcAft>
                <a:spcPts val="800"/>
              </a:spcAft>
              <a:defRPr sz="1300">
                <a:solidFill>
                  <a:srgbClr val="C8D6E5"/>
                </a:solidFill>
              </a:defRPr>
            </a:pPr>
            <a:r>
              <a:t>• Mobile UI improvements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74920"/>
            <a:ext cx="2606040" cy="777240"/>
          </a:xfrm>
          <a:prstGeom prst="roundRect">
            <a:avLst/>
          </a:prstGeom>
          <a:solidFill>
            <a:srgbClr val="122B4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481</a:t>
            </a:r>
          </a:p>
          <a:p>
            <a:pPr algn="ctr">
              <a:defRPr sz="1200">
                <a:solidFill>
                  <a:srgbClr val="C8D6E5"/>
                </a:solidFill>
              </a:defRPr>
            </a:pPr>
            <a:r>
              <a:t>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074920"/>
            <a:ext cx="2606040" cy="777240"/>
          </a:xfrm>
          <a:prstGeom prst="roundRect">
            <a:avLst/>
          </a:prstGeom>
          <a:solidFill>
            <a:srgbClr val="122B4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0</a:t>
            </a:r>
          </a:p>
          <a:p>
            <a:pPr algn="ctr">
              <a:defRPr sz="1200">
                <a:solidFill>
                  <a:srgbClr val="C8D6E5"/>
                </a:solidFill>
              </a:defRPr>
            </a:pPr>
            <a:r>
              <a:t>Failed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5074920"/>
            <a:ext cx="2606040" cy="777240"/>
          </a:xfrm>
          <a:prstGeom prst="roundRect">
            <a:avLst/>
          </a:prstGeom>
          <a:solidFill>
            <a:srgbClr val="122B4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3/3</a:t>
            </a:r>
          </a:p>
          <a:p>
            <a:pPr algn="ctr">
              <a:defRPr sz="1200">
                <a:solidFill>
                  <a:srgbClr val="C8D6E5"/>
                </a:solidFill>
              </a:defRPr>
            </a:pPr>
            <a:r>
              <a:t>Public browser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98932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39C12"/>
                </a:solidFill>
              </a:defRPr>
            </a:pPr>
            <a:r>
              <a:t>Public URL: http://3.239.47.249/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ScoutMatch AI  |  Avidan Mendelman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APPENDIX — Exact Four Tools and Lambda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1 SubmitCriticalDecisionAndSendEmail — Ron Ben Ari, 43,000 EUR reserved, 57,000 remaining, Pending management approval.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2 OpenTransferOutReviewCase — Daniel Cohen transfer-out, 25,000 EUR estimated release, NOT sold automatically.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3 CreateAndReviewScoutingMission — Ron Ben Ari mission, ICS download and synthetic report, no full Google Calendar API.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4 GenerateVisualSquadAndLineupBoard — 4-3-3 board in private S3 SVG via Flask Proxy, Pending head-coach review.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Exactly 4 Tools, 4 Action Groups, 4 Lambdas, one-to-one mapping. No fifth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APPENDIX — Presenter: Avidan Mendelman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APPENDIX — Real Business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Opening season: club finished fourth; transfer window closing.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Scout analyzes squad gaps and compares Ron Ben Ari within budget.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Ron Ben Ari is NOT automatically signed.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Daniel Cohen is NOT automatically sold.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Lineup is NOT automatically approved — head coach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APPENDIX — Presenter: Avidan Mendelman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APPENDIX — Knowledge Base vs DynamoDB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Knowledge Base (S3 + Bedrock): static club documents — budget, tactics, policies, CVs.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DynamoDB: live operational state — reservations, cases, missions, lineup records.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RAG reads KB; tools write DynamoDB only after Confirm.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APPENDIX — Presenter: Avidan Mendelman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APPENDIX — MCP Clarification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Uses Amazon Bedrock Agent Action Groups backed by AWS Lambda.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Does NOT implement a standalone MCP server.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Four controlled tools — not open-ended plugin hosting.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APPENDIX — Presenter: Avidan Mendelman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APPENDIX — Instructor Q and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Does it sign players automatically? No — pending management approval only.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Is SNS required? No — optional future extension.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How many tools? Exactly four Action Groups and four Lambdas.</a:t>
            </a:r>
          </a:p>
          <a:p>
            <a:pPr>
              <a:spcAft>
                <a:spcPts val="800"/>
              </a:spcAft>
              <a:defRPr sz="1600">
                <a:solidFill>
                  <a:srgbClr val="C8D6E5"/>
                </a:solidFill>
              </a:defRPr>
            </a:pPr>
            <a:r>
              <a:t>Public demo: http://3.239.47.249/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A6BD"/>
                </a:solidFill>
              </a:defRPr>
            </a:pPr>
            <a:r>
              <a:t>APPENDIX — Presenter: Avidan Mendelman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